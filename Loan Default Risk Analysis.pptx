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Manrope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anrope-bold.fntdata"/><Relationship Id="rId12" Type="http://schemas.openxmlformats.org/officeDocument/2006/relationships/font" Target="fonts/Manrop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3D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753942" y="0"/>
            <a:ext cx="4391025" cy="5143500"/>
          </a:xfrm>
          <a:prstGeom prst="rect">
            <a:avLst/>
          </a:prstGeom>
          <a:solidFill>
            <a:srgbClr val="0F2D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7613" y="410542"/>
            <a:ext cx="733425" cy="42863"/>
          </a:xfrm>
          <a:prstGeom prst="rect">
            <a:avLst/>
          </a:prstGeom>
          <a:solidFill>
            <a:srgbClr val="1C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580" y="416198"/>
            <a:ext cx="27058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BUSINESS PROBLEM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580" y="698822"/>
            <a:ext cx="5036269" cy="70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30"/>
              <a:buFont typeface="Manrope"/>
              <a:buNone/>
            </a:pPr>
            <a:r>
              <a:rPr b="1" i="0" lang="en-US" sz="403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Loan Default Risk</a:t>
            </a:r>
            <a:endParaRPr b="0" i="0" sz="4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580" y="1200596"/>
            <a:ext cx="2505499" cy="70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30"/>
              <a:buFont typeface="Manrope"/>
              <a:buNone/>
            </a:pPr>
            <a:r>
              <a:rPr b="1" i="0" lang="en-US" sz="403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Analysis</a:t>
            </a:r>
            <a:endParaRPr b="0" i="0" sz="4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580" y="1914004"/>
            <a:ext cx="186528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Business Problem: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580" y="2215083"/>
            <a:ext cx="5552175" cy="174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621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Financial institutions face losses when borrowers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621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fail to repay loans. The objective of this analysis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621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was to identify patterns associated with loan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621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defaults and understand how borrower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621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characteristics such as region, age, income, loan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621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type, and credit profile influence loan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621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performance.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234360" y="1909465"/>
            <a:ext cx="2538413" cy="2509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486772" y="1914004"/>
            <a:ext cx="5720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Goal: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86772" y="2234133"/>
            <a:ext cx="2707102" cy="526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Understand loan default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behavior.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772" y="2782863"/>
            <a:ext cx="2936178" cy="526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Identify high-risk borrower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segments.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772" y="3331592"/>
            <a:ext cx="2532876" cy="526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Support better lending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decisions.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772" y="3880321"/>
            <a:ext cx="2602044" cy="526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Reduce future financial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AEC"/>
              </a:buClr>
              <a:buSzPts val="1440"/>
              <a:buFont typeface="Manrope"/>
              <a:buNone/>
            </a:pPr>
            <a:r>
              <a:rPr b="0" i="0" lang="en-US" sz="1440" u="none" cap="none" strike="noStrike">
                <a:solidFill>
                  <a:srgbClr val="E7EAEC"/>
                </a:solidFill>
                <a:latin typeface="Manrope"/>
                <a:ea typeface="Manrope"/>
                <a:cs typeface="Manrope"/>
                <a:sym typeface="Manrope"/>
              </a:rPr>
              <a:t>losses.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14251" y="4531147"/>
            <a:ext cx="550003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8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93A1A8"/>
                </a:solidFill>
                <a:latin typeface="Manrope"/>
                <a:ea typeface="Manrope"/>
                <a:cs typeface="Manrope"/>
                <a:sym typeface="Manrope"/>
              </a:rPr>
              <a:t>RISK ANALYTICS FOR BETTER LENDING DECISIONS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4360" y="1909465"/>
            <a:ext cx="2538413" cy="250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405762" y="461888"/>
            <a:ext cx="1190625" cy="1190625"/>
          </a:xfrm>
          <a:prstGeom prst="ellipse">
            <a:avLst/>
          </a:prstGeom>
          <a:noFill/>
          <a:ln cap="flat" cmpd="sng" w="28575">
            <a:solidFill>
              <a:srgbClr val="1DA6A0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772400" y="668610"/>
            <a:ext cx="457200" cy="457200"/>
          </a:xfrm>
          <a:prstGeom prst="ellipse">
            <a:avLst/>
          </a:prstGeom>
          <a:solidFill>
            <a:srgbClr val="1EA5A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48580" y="364778"/>
            <a:ext cx="2165077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02 / FOUNDATION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580" y="578272"/>
            <a:ext cx="4354458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2880"/>
              <a:buFont typeface="Manrope"/>
              <a:buNone/>
            </a:pPr>
            <a:r>
              <a:rPr b="1" i="0" lang="en-US" sz="28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Data &amp; Methodology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668028" y="595015"/>
            <a:ext cx="1927391" cy="40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9464"/>
              </a:lnSpc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EVIDENCE BEFORE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49464"/>
              </a:lnSpc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ACTION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320" y="1426406"/>
            <a:ext cx="3533775" cy="3267075"/>
          </a:xfrm>
          <a:prstGeom prst="rect">
            <a:avLst/>
          </a:prstGeom>
          <a:solidFill>
            <a:srgbClr val="0F2D3D"/>
          </a:solidFill>
          <a:ln>
            <a:noFill/>
          </a:ln>
          <a:effectLst>
            <a:outerShdw blurRad="101600" rotWithShape="0" algn="bl" dir="2700000" dist="103453">
              <a:srgbClr val="1CA7A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22871" y="1705942"/>
            <a:ext cx="139871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DATA USED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22871" y="2025700"/>
            <a:ext cx="267556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20"/>
              <a:buFont typeface="Manrope"/>
              <a:buNone/>
            </a:pPr>
            <a:r>
              <a:rPr b="1" i="0" lang="en-US" sz="482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148,670</a:t>
            </a:r>
            <a:endParaRPr b="0" i="0" sz="4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22871" y="2828999"/>
            <a:ext cx="124374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CBCF"/>
              </a:buClr>
              <a:buSzPts val="1260"/>
              <a:buFont typeface="Manrope"/>
              <a:buNone/>
            </a:pPr>
            <a:r>
              <a:rPr b="0" i="0" lang="en-US" sz="1260" u="none" cap="none" strike="noStrike">
                <a:solidFill>
                  <a:srgbClr val="C3CBCF"/>
                </a:solidFill>
                <a:latin typeface="Manrope"/>
                <a:ea typeface="Manrope"/>
                <a:cs typeface="Manrope"/>
                <a:sym typeface="Manrope"/>
              </a:rPr>
              <a:t>loan records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22164" y="3265512"/>
            <a:ext cx="2986088" cy="95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822871" y="3413522"/>
            <a:ext cx="2204740" cy="223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Loan Default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22871" y="3727624"/>
            <a:ext cx="3847259" cy="682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0"/>
              </a:lnSpc>
              <a:spcBef>
                <a:spcPts val="0"/>
              </a:spcBef>
              <a:spcAft>
                <a:spcPts val="0"/>
              </a:spcAft>
              <a:buClr>
                <a:srgbClr val="C3CBCF"/>
              </a:buClr>
              <a:buSzPts val="1260"/>
              <a:buFont typeface="Manrope"/>
              <a:buNone/>
            </a:pPr>
            <a:r>
              <a:rPr b="0" i="0" lang="en-US" sz="1260" u="none" cap="none" strike="noStrike">
                <a:solidFill>
                  <a:srgbClr val="C3CBCF"/>
                </a:solidFill>
                <a:latin typeface="Manrope"/>
                <a:ea typeface="Manrope"/>
                <a:cs typeface="Manrope"/>
                <a:sym typeface="Manrope"/>
              </a:rPr>
              <a:t>Key variables include Loan Amount,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920"/>
              </a:lnSpc>
              <a:spcBef>
                <a:spcPts val="0"/>
              </a:spcBef>
              <a:spcAft>
                <a:spcPts val="0"/>
              </a:spcAft>
              <a:buClr>
                <a:srgbClr val="C3CBCF"/>
              </a:buClr>
              <a:buSzPts val="1260"/>
              <a:buFont typeface="Manrope"/>
              <a:buNone/>
            </a:pPr>
            <a:r>
              <a:rPr b="0" i="0" lang="en-US" sz="1260" u="none" cap="none" strike="noStrike">
                <a:solidFill>
                  <a:srgbClr val="C3CBCF"/>
                </a:solidFill>
                <a:latin typeface="Manrope"/>
                <a:ea typeface="Manrope"/>
                <a:cs typeface="Manrope"/>
                <a:sym typeface="Manrope"/>
              </a:rPr>
              <a:t>Credit Score, Income, Age, Region, Loan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920"/>
              </a:lnSpc>
              <a:spcBef>
                <a:spcPts val="0"/>
              </a:spcBef>
              <a:spcAft>
                <a:spcPts val="0"/>
              </a:spcAft>
              <a:buClr>
                <a:srgbClr val="C3CBCF"/>
              </a:buClr>
              <a:buSzPts val="1260"/>
              <a:buFont typeface="Manrope"/>
              <a:buNone/>
            </a:pPr>
            <a:r>
              <a:rPr b="0" i="0" lang="en-US" sz="1260" u="none" cap="none" strike="noStrike">
                <a:solidFill>
                  <a:srgbClr val="C3CBCF"/>
                </a:solidFill>
                <a:latin typeface="Manrope"/>
                <a:ea typeface="Manrope"/>
                <a:cs typeface="Manrope"/>
                <a:sym typeface="Manrope"/>
              </a:rPr>
              <a:t>Type, Loan Purpose, and Loan Status.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447580" y="1457325"/>
            <a:ext cx="1892178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METHODOLOGY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447431" y="1841004"/>
            <a:ext cx="41481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447580" y="1792337"/>
            <a:ext cx="432591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2020"/>
              <a:buFont typeface="Manrope"/>
              <a:buNone/>
            </a:pPr>
            <a:r>
              <a:rPr b="1" i="0" lang="en-US" sz="202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2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82679" y="1846213"/>
            <a:ext cx="2548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Reviewed data quality.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447431" y="2328044"/>
            <a:ext cx="41481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447580" y="2279377"/>
            <a:ext cx="482508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2020"/>
              <a:buFont typeface="Manrope"/>
              <a:buNone/>
            </a:pPr>
            <a:r>
              <a:rPr b="1" i="0" lang="en-US" sz="202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2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921076" y="2333253"/>
            <a:ext cx="4508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Checked missing values and duplicates.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447431" y="2815084"/>
            <a:ext cx="41481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447580" y="2766417"/>
            <a:ext cx="47815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2020"/>
              <a:buFont typeface="Manrope"/>
              <a:buNone/>
            </a:pPr>
            <a:r>
              <a:rPr b="1" i="0" lang="en-US" sz="202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2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917728" y="2820293"/>
            <a:ext cx="338533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Analyzed borrower segments.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447431" y="3301938"/>
            <a:ext cx="4148137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447580" y="3253457"/>
            <a:ext cx="486184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2020"/>
              <a:buFont typeface="Manrope"/>
              <a:buNone/>
            </a:pPr>
            <a:r>
              <a:rPr b="1" i="0" lang="en-US" sz="202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2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923904" y="3307333"/>
            <a:ext cx="40636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Compared loan performance across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23904" y="3541588"/>
            <a:ext cx="27462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regions and age groups.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447580" y="3973488"/>
            <a:ext cx="477478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2020"/>
              <a:buFont typeface="Manrope"/>
              <a:buNone/>
            </a:pPr>
            <a:r>
              <a:rPr b="1" i="0" lang="en-US" sz="202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05</a:t>
            </a:r>
            <a:endParaRPr b="0" i="0" sz="2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17207" y="4027363"/>
            <a:ext cx="482421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Built dashboard visualizations for business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917207" y="4261619"/>
            <a:ext cx="11629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480"/>
              <a:buFont typeface="Manrope"/>
              <a:buNone/>
            </a:pPr>
            <a:r>
              <a:rPr b="0" i="0" lang="en-US" sz="14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reporting.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8580" y="4685407"/>
            <a:ext cx="32143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LOAN DEFAULT RISK ANALYSIS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727254" y="4685407"/>
            <a:ext cx="24857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DATA &amp; METHODOLOGY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591" y="504937"/>
            <a:ext cx="1738312" cy="509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7431" y="1841004"/>
            <a:ext cx="4148137" cy="366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7431" y="2328044"/>
            <a:ext cx="4148137" cy="366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7431" y="2815084"/>
            <a:ext cx="4148137" cy="366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7431" y="3301938"/>
            <a:ext cx="4148137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48580" y="364778"/>
            <a:ext cx="1675581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03 / RESULTS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8580" y="578272"/>
            <a:ext cx="2707005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2880"/>
              <a:buFont typeface="Manrope"/>
              <a:buNone/>
            </a:pPr>
            <a:r>
              <a:rPr b="1" i="0" lang="en-US" sz="28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Key Findings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49659" y="1427931"/>
            <a:ext cx="3395663" cy="4181475"/>
          </a:xfrm>
          <a:prstGeom prst="rect">
            <a:avLst/>
          </a:prstGeom>
          <a:solidFill>
            <a:srgbClr val="0F2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59408" y="1747242"/>
            <a:ext cx="362611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60"/>
              <a:buFont typeface="Manrope"/>
              <a:buNone/>
            </a:pPr>
            <a:r>
              <a:rPr b="1" i="0" lang="en-US" sz="126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OVERALL LOAN DEFAULT RATE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59408" y="1879550"/>
            <a:ext cx="3666165" cy="1252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Manrope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24.64%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59222" y="4575683"/>
            <a:ext cx="2776537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9408" y="4683993"/>
            <a:ext cx="2428205" cy="61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C3CBCF"/>
              </a:buClr>
              <a:buSzPts val="1220"/>
              <a:buFont typeface="Manrope"/>
              <a:buNone/>
            </a:pPr>
            <a:r>
              <a:rPr b="0" i="0" lang="en-US" sz="1220" u="none" cap="none" strike="noStrike">
                <a:solidFill>
                  <a:srgbClr val="C3CBCF"/>
                </a:solidFill>
                <a:latin typeface="Manrope"/>
                <a:ea typeface="Manrope"/>
                <a:cs typeface="Manrope"/>
                <a:sym typeface="Manrope"/>
              </a:rPr>
              <a:t>A meaningful share of the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C3CBCF"/>
              </a:buClr>
              <a:buSzPts val="1220"/>
              <a:buFont typeface="Manrope"/>
              <a:buNone/>
            </a:pPr>
            <a:r>
              <a:rPr b="0" i="0" lang="en-US" sz="1220" u="none" cap="none" strike="noStrike">
                <a:solidFill>
                  <a:srgbClr val="C3CBCF"/>
                </a:solidFill>
                <a:latin typeface="Manrope"/>
                <a:ea typeface="Manrope"/>
                <a:cs typeface="Manrope"/>
                <a:sym typeface="Manrope"/>
              </a:rPr>
              <a:t>portfolio requires closer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C3CBCF"/>
              </a:buClr>
              <a:buSzPts val="1220"/>
              <a:buFont typeface="Manrope"/>
              <a:buNone/>
            </a:pPr>
            <a:r>
              <a:rPr b="0" i="0" lang="en-US" sz="1220" u="none" cap="none" strike="noStrike">
                <a:solidFill>
                  <a:srgbClr val="C3CBCF"/>
                </a:solidFill>
                <a:latin typeface="Manrope"/>
                <a:ea typeface="Manrope"/>
                <a:cs typeface="Manrope"/>
                <a:sym typeface="Manrope"/>
              </a:rPr>
              <a:t>risk attention.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178373" y="4842421"/>
            <a:ext cx="457200" cy="457200"/>
          </a:xfrm>
          <a:prstGeom prst="rect">
            <a:avLst/>
          </a:prstGeom>
          <a:noFill/>
          <a:ln cap="flat" cmpd="sng" w="23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494981" y="1472729"/>
            <a:ext cx="1732657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KEY FINDINGS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494981" y="1841078"/>
            <a:ext cx="5147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Default rates vary across different regions.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494981" y="2328565"/>
            <a:ext cx="53394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Certain age groups show higher default risk.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494981" y="2820795"/>
            <a:ext cx="5362858" cy="527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53"/>
              </a:lnSpc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Loan amount alone is not a reliable predictor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253"/>
              </a:lnSpc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of default.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494981" y="3559652"/>
            <a:ext cx="4263330" cy="527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53"/>
              </a:lnSpc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Multiple borrower factors influence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253"/>
              </a:lnSpc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repayment behavior.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494907" y="4329224"/>
            <a:ext cx="4100513" cy="1281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706392" y="4333875"/>
            <a:ext cx="309183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MANAGEMENT TAKEAWAY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706392" y="4610026"/>
            <a:ext cx="410932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1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Loan default risk is influenced by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706392" y="4855369"/>
            <a:ext cx="36376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1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several borrower and lending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706392" y="5100712"/>
            <a:ext cx="441675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1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characteristics rather than a single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706392" y="5346055"/>
            <a:ext cx="866076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1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factor.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48580" y="4685407"/>
            <a:ext cx="32143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LOAN DEFAULT RISK ANALYSIS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480102" y="4685407"/>
            <a:ext cx="15070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KEY FINDINGS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222" y="4575683"/>
            <a:ext cx="2776537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4907" y="1854250"/>
            <a:ext cx="4100513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4907" y="2341736"/>
            <a:ext cx="4100513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4907" y="2831083"/>
            <a:ext cx="4100513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4907" y="4329224"/>
            <a:ext cx="4100513" cy="128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668342" y="0"/>
            <a:ext cx="3476625" cy="5143500"/>
          </a:xfrm>
          <a:prstGeom prst="rect">
            <a:avLst/>
          </a:prstGeom>
          <a:solidFill>
            <a:srgbClr val="123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400391" y="461888"/>
            <a:ext cx="2195513" cy="2419350"/>
          </a:xfrm>
          <a:prstGeom prst="rect">
            <a:avLst/>
          </a:prstGeom>
          <a:noFill/>
          <a:ln cap="flat" cmpd="sng" w="19050">
            <a:solidFill>
              <a:srgbClr val="1AA69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48580" y="364778"/>
            <a:ext cx="2973422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04 / DEEP-DIVE INSIGHT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48580" y="578272"/>
            <a:ext cx="6033351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Manrope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Regional Differences in Loan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580" y="944017"/>
            <a:ext cx="2919539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Manrope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Default Rates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8580" y="1797397"/>
            <a:ext cx="3290627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MOST IMPORTANT FINDING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580" y="2090514"/>
            <a:ext cx="4856143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Manrope"/>
              <a:buNone/>
            </a:pPr>
            <a:r>
              <a:rPr b="1" i="0" lang="en-US" sz="216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Regional Differences in Loan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580" y="2386682"/>
            <a:ext cx="23621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Manrope"/>
              <a:buNone/>
            </a:pPr>
            <a:r>
              <a:rPr b="1" i="0" lang="en-US" sz="216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Default Rates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7911" y="2977381"/>
            <a:ext cx="3852862" cy="1328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59991" y="2982888"/>
            <a:ext cx="125970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EVIDENCE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59991" y="3273881"/>
            <a:ext cx="4678434" cy="1033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806"/>
              </a:lnSpc>
              <a:spcBef>
                <a:spcPts val="0"/>
              </a:spcBef>
              <a:spcAft>
                <a:spcPts val="0"/>
              </a:spcAft>
              <a:buClr>
                <a:srgbClr val="D4D9DC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D4D9DC"/>
                </a:solidFill>
                <a:latin typeface="Manrope"/>
                <a:ea typeface="Manrope"/>
                <a:cs typeface="Manrope"/>
                <a:sym typeface="Manrope"/>
              </a:rPr>
              <a:t>Some regions experienced significantly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806"/>
              </a:lnSpc>
              <a:spcBef>
                <a:spcPts val="0"/>
              </a:spcBef>
              <a:spcAft>
                <a:spcPts val="0"/>
              </a:spcAft>
              <a:buClr>
                <a:srgbClr val="D4D9DC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D4D9DC"/>
                </a:solidFill>
                <a:latin typeface="Manrope"/>
                <a:ea typeface="Manrope"/>
                <a:cs typeface="Manrope"/>
                <a:sym typeface="Manrope"/>
              </a:rPr>
              <a:t>higher default rates than others. The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806"/>
              </a:lnSpc>
              <a:spcBef>
                <a:spcPts val="0"/>
              </a:spcBef>
              <a:spcAft>
                <a:spcPts val="0"/>
              </a:spcAft>
              <a:buClr>
                <a:srgbClr val="D4D9DC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D4D9DC"/>
                </a:solidFill>
                <a:latin typeface="Manrope"/>
                <a:ea typeface="Manrope"/>
                <a:cs typeface="Manrope"/>
                <a:sym typeface="Manrope"/>
              </a:rPr>
              <a:t>North-East region showed the highest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806"/>
              </a:lnSpc>
              <a:spcBef>
                <a:spcPts val="0"/>
              </a:spcBef>
              <a:spcAft>
                <a:spcPts val="0"/>
              </a:spcAft>
              <a:buClr>
                <a:srgbClr val="D4D9DC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D4D9DC"/>
                </a:solidFill>
                <a:latin typeface="Manrope"/>
                <a:ea typeface="Manrope"/>
                <a:cs typeface="Manrope"/>
                <a:sym typeface="Manrope"/>
              </a:rPr>
              <a:t>observed default rate.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405475" y="1843088"/>
            <a:ext cx="19050" cy="1390650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680174" y="1828205"/>
            <a:ext cx="2170398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8"/>
              </a:buClr>
              <a:buSzPts val="1120"/>
              <a:buFont typeface="Manrope"/>
              <a:buNone/>
            </a:pPr>
            <a:r>
              <a:rPr b="0" i="0" lang="en-US" sz="1120" u="none" cap="none" strike="noStrike">
                <a:solidFill>
                  <a:srgbClr val="93A1A8"/>
                </a:solidFill>
                <a:latin typeface="Manrope"/>
                <a:ea typeface="Manrope"/>
                <a:cs typeface="Manrope"/>
                <a:sym typeface="Manrope"/>
              </a:rPr>
              <a:t>HIGHEST OBSERVED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143155" y="2086645"/>
            <a:ext cx="126492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0"/>
              <a:buFont typeface="Manrope"/>
              <a:buNone/>
            </a:pPr>
            <a:r>
              <a:rPr b="1" i="0" lang="en-US" sz="137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North-East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680174" y="2537892"/>
            <a:ext cx="177735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8"/>
              </a:buClr>
              <a:buSzPts val="1120"/>
              <a:buFont typeface="Manrope"/>
              <a:buNone/>
            </a:pPr>
            <a:r>
              <a:rPr b="0" i="0" lang="en-US" sz="1120" u="none" cap="none" strike="noStrike">
                <a:solidFill>
                  <a:srgbClr val="93A1A8"/>
                </a:solidFill>
                <a:latin typeface="Manrope"/>
                <a:ea typeface="Manrope"/>
                <a:cs typeface="Manrope"/>
                <a:sym typeface="Manrope"/>
              </a:rPr>
              <a:t>OTHER REGIONS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680174" y="2807568"/>
            <a:ext cx="914400" cy="219075"/>
          </a:xfrm>
          <a:prstGeom prst="rect">
            <a:avLst/>
          </a:prstGeom>
          <a:solidFill>
            <a:srgbClr val="1C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685955" y="2796332"/>
            <a:ext cx="75037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0"/>
              <a:buFont typeface="Manrope"/>
              <a:buNone/>
            </a:pPr>
            <a:r>
              <a:rPr b="1" i="0" lang="en-US" sz="137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Varied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038985" y="3458468"/>
            <a:ext cx="3557588" cy="1376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040139" y="3612356"/>
            <a:ext cx="210287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WHY IT MATTERS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040139" y="3898032"/>
            <a:ext cx="3793666" cy="938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57"/>
              </a:lnSpc>
              <a:spcBef>
                <a:spcPts val="0"/>
              </a:spcBef>
              <a:spcAft>
                <a:spcPts val="0"/>
              </a:spcAft>
              <a:buClr>
                <a:srgbClr val="CFD5D8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D5D8"/>
                </a:solidFill>
                <a:latin typeface="Manrope"/>
                <a:ea typeface="Manrope"/>
                <a:cs typeface="Manrope"/>
                <a:sym typeface="Manrope"/>
              </a:rPr>
              <a:t>Regional economic conditions,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357"/>
              </a:lnSpc>
              <a:spcBef>
                <a:spcPts val="0"/>
              </a:spcBef>
              <a:spcAft>
                <a:spcPts val="0"/>
              </a:spcAft>
              <a:buClr>
                <a:srgbClr val="CFD5D8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D5D8"/>
                </a:solidFill>
                <a:latin typeface="Manrope"/>
                <a:ea typeface="Manrope"/>
                <a:cs typeface="Manrope"/>
                <a:sym typeface="Manrope"/>
              </a:rPr>
              <a:t>borrower profiles, and lending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357"/>
              </a:lnSpc>
              <a:spcBef>
                <a:spcPts val="0"/>
              </a:spcBef>
              <a:spcAft>
                <a:spcPts val="0"/>
              </a:spcAft>
              <a:buClr>
                <a:srgbClr val="CFD5D8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D5D8"/>
                </a:solidFill>
                <a:latin typeface="Manrope"/>
                <a:ea typeface="Manrope"/>
                <a:cs typeface="Manrope"/>
                <a:sym typeface="Manrope"/>
              </a:rPr>
              <a:t>practices may influence repayment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357"/>
              </a:lnSpc>
              <a:spcBef>
                <a:spcPts val="0"/>
              </a:spcBef>
              <a:spcAft>
                <a:spcPts val="0"/>
              </a:spcAft>
              <a:buClr>
                <a:srgbClr val="CFD5D8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D5D8"/>
                </a:solidFill>
                <a:latin typeface="Manrope"/>
                <a:ea typeface="Manrope"/>
                <a:cs typeface="Manrope"/>
                <a:sym typeface="Manrope"/>
              </a:rPr>
              <a:t>performance.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038985" y="4997872"/>
            <a:ext cx="35575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040139" y="5152504"/>
            <a:ext cx="291702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BUSINESS IMPLICATION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40139" y="5438180"/>
            <a:ext cx="4079624" cy="474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57"/>
              </a:lnSpc>
              <a:spcBef>
                <a:spcPts val="0"/>
              </a:spcBef>
              <a:spcAft>
                <a:spcPts val="0"/>
              </a:spcAft>
              <a:buClr>
                <a:srgbClr val="CFD5D8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D5D8"/>
                </a:solidFill>
                <a:latin typeface="Manrope"/>
                <a:ea typeface="Manrope"/>
                <a:cs typeface="Manrope"/>
                <a:sym typeface="Manrope"/>
              </a:rPr>
              <a:t>A uniform lending strategy may not be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357"/>
              </a:lnSpc>
              <a:spcBef>
                <a:spcPts val="0"/>
              </a:spcBef>
              <a:spcAft>
                <a:spcPts val="0"/>
              </a:spcAft>
              <a:buClr>
                <a:srgbClr val="CFD5D8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CFD5D8"/>
                </a:solidFill>
                <a:latin typeface="Manrope"/>
                <a:ea typeface="Manrope"/>
                <a:cs typeface="Manrope"/>
                <a:sym typeface="Manrope"/>
              </a:rPr>
              <a:t>equally effective across all regions.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911" y="2977381"/>
            <a:ext cx="3852862" cy="1328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985" y="3458468"/>
            <a:ext cx="3557588" cy="1376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8985" y="4997872"/>
            <a:ext cx="3557588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48580" y="364778"/>
            <a:ext cx="222728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05 / ACTION PLAN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580" y="578272"/>
            <a:ext cx="4109130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2880"/>
              <a:buFont typeface="Manrope"/>
              <a:buNone/>
            </a:pPr>
            <a:r>
              <a:rPr b="1" i="0" lang="en-US" sz="28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Recommendations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022" y="1427783"/>
            <a:ext cx="2543175" cy="3476625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77180" y="1593577"/>
            <a:ext cx="632549" cy="62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3600"/>
              <a:buFont typeface="Manrope"/>
              <a:buNone/>
            </a:pPr>
            <a:r>
              <a:rPr b="1" i="0" lang="en-US" sz="360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77180" y="2444204"/>
            <a:ext cx="457200" cy="42863"/>
          </a:xfrm>
          <a:prstGeom prst="rect">
            <a:avLst/>
          </a:prstGeom>
          <a:solidFill>
            <a:srgbClr val="1C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777180" y="2607097"/>
            <a:ext cx="25805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Implement stricter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77180" y="2843436"/>
            <a:ext cx="2686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risk assessment for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77180" y="3079775"/>
            <a:ext cx="255116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high-risk borrower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77180" y="3316114"/>
            <a:ext cx="14929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segments.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300375" y="1427783"/>
            <a:ext cx="2543175" cy="3476625"/>
          </a:xfrm>
          <a:prstGeom prst="rect">
            <a:avLst/>
          </a:prstGeom>
          <a:solidFill>
            <a:srgbClr val="0F2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529533" y="1593577"/>
            <a:ext cx="721742" cy="62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anrope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529533" y="2607097"/>
            <a:ext cx="2667923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Strengthen income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529533" y="2843436"/>
            <a:ext cx="217929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verification and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529533" y="3079775"/>
            <a:ext cx="17065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affordability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529533" y="3316114"/>
            <a:ext cx="1104922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0"/>
              <a:buFont typeface="Manrope"/>
              <a:buNone/>
            </a:pPr>
            <a:r>
              <a:rPr b="1" i="0" lang="en-US" sz="169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checks.</a:t>
            </a:r>
            <a:endParaRPr b="0" i="0" sz="1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052728" y="1427783"/>
            <a:ext cx="2543175" cy="3476625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281886" y="1593577"/>
            <a:ext cx="714003" cy="62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3600"/>
              <a:buFont typeface="Manrope"/>
              <a:buNone/>
            </a:pPr>
            <a:r>
              <a:rPr b="1" i="0" lang="en-US" sz="360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281886" y="2611859"/>
            <a:ext cx="13405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1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Develop a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281886" y="2833092"/>
            <a:ext cx="23418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1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multi-factor risk scoring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281886" y="3054325"/>
            <a:ext cx="16887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80"/>
              <a:buFont typeface="Manrope"/>
              <a:buNone/>
            </a:pPr>
            <a:r>
              <a:rPr b="1" i="0" lang="en-US" sz="15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model using: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281886" y="3422005"/>
            <a:ext cx="8210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370"/>
              <a:buFont typeface="Manrope"/>
              <a:buNone/>
            </a:pPr>
            <a:r>
              <a:rPr b="0" i="0" lang="en-US" sz="137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Income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281886" y="3673897"/>
            <a:ext cx="4658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370"/>
              <a:buFont typeface="Manrope"/>
              <a:buNone/>
            </a:pPr>
            <a:r>
              <a:rPr b="0" i="0" lang="en-US" sz="137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Age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281886" y="3925788"/>
            <a:ext cx="13574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370"/>
              <a:buFont typeface="Manrope"/>
              <a:buNone/>
            </a:pPr>
            <a:r>
              <a:rPr b="0" i="0" lang="en-US" sz="137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Credit Score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281886" y="4177680"/>
            <a:ext cx="221625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370"/>
              <a:buFont typeface="Manrope"/>
              <a:buNone/>
            </a:pPr>
            <a:r>
              <a:rPr b="0" i="0" lang="en-US" sz="137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Loan Characteristics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281886" y="4429571"/>
            <a:ext cx="10105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370"/>
              <a:buFont typeface="Manrope"/>
              <a:buNone/>
            </a:pPr>
            <a:r>
              <a:rPr b="0" i="0" lang="en-US" sz="137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LTV Ratio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48580" y="4685407"/>
            <a:ext cx="32143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LOAN DEFAULT RISK ANALYSIS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945585" y="4685407"/>
            <a:ext cx="22019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RECOMMENDATIONS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022" y="1427783"/>
            <a:ext cx="2543175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0375" y="1427783"/>
            <a:ext cx="2543175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2728" y="1427783"/>
            <a:ext cx="25431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120171" y="3189945"/>
            <a:ext cx="4024312" cy="1952625"/>
          </a:xfrm>
          <a:prstGeom prst="rect">
            <a:avLst/>
          </a:prstGeom>
          <a:solidFill>
            <a:srgbClr val="123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48580" y="364778"/>
            <a:ext cx="1966860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06 / OUTCOMES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48580" y="578272"/>
            <a:ext cx="5622503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Manrope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Expected Business Impact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48580" y="1431652"/>
            <a:ext cx="252910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EXPECTED BENEFITS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9101" y="1814140"/>
            <a:ext cx="37480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86259" y="1823814"/>
            <a:ext cx="32617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Reduction in loan defaults.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9101" y="2336527"/>
            <a:ext cx="37480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48841" y="2437470"/>
            <a:ext cx="100013" cy="100013"/>
          </a:xfrm>
          <a:prstGeom prst="rect">
            <a:avLst/>
          </a:prstGeom>
          <a:solidFill>
            <a:srgbClr val="1C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86259" y="2346201"/>
            <a:ext cx="316496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Improved portfolio quality.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9101" y="2858914"/>
            <a:ext cx="37480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86259" y="2868588"/>
            <a:ext cx="302798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Better lending decisions.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9101" y="3381301"/>
            <a:ext cx="37480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48841" y="3482243"/>
            <a:ext cx="100013" cy="100013"/>
          </a:xfrm>
          <a:prstGeom prst="rect">
            <a:avLst/>
          </a:prstGeom>
          <a:solidFill>
            <a:srgbClr val="1C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86259" y="3390974"/>
            <a:ext cx="27535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Lower financial losses.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86259" y="3913361"/>
            <a:ext cx="4577246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Improved customer risk management.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846811" y="1425773"/>
            <a:ext cx="3748087" cy="411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226323" y="1431652"/>
            <a:ext cx="237538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SUCCESS METRICS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226323" y="1823814"/>
            <a:ext cx="22978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Lower default rate.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226323" y="2346201"/>
            <a:ext cx="312404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Improved repayment rate.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226323" y="2868588"/>
            <a:ext cx="3863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Reduced non-performing loans.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226323" y="3390974"/>
            <a:ext cx="341725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Manrope"/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Higher portfolio profitability.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225728" y="4916537"/>
            <a:ext cx="257175" cy="619125"/>
          </a:xfrm>
          <a:prstGeom prst="rect">
            <a:avLst/>
          </a:prstGeom>
          <a:solidFill>
            <a:srgbClr val="1C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957069" y="4043586"/>
            <a:ext cx="257175" cy="1490663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414715" y="5135380"/>
            <a:ext cx="1704119" cy="40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ABB6BB"/>
              </a:buClr>
              <a:buSzPts val="1220"/>
              <a:buFont typeface="Manrope"/>
              <a:buNone/>
            </a:pPr>
            <a:r>
              <a:rPr b="0" i="0" lang="en-US" sz="1220" u="none" cap="none" strike="noStrike">
                <a:solidFill>
                  <a:srgbClr val="ABB6BB"/>
                </a:solidFill>
                <a:latin typeface="Manrope"/>
                <a:ea typeface="Manrope"/>
                <a:cs typeface="Manrope"/>
                <a:sym typeface="Manrope"/>
              </a:rPr>
              <a:t>Measure portfolio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ABB6BB"/>
              </a:buClr>
              <a:buSzPts val="1220"/>
              <a:buFont typeface="Manrope"/>
              <a:buNone/>
            </a:pPr>
            <a:r>
              <a:rPr b="0" i="0" lang="en-US" sz="1220" u="none" cap="none" strike="noStrike">
                <a:solidFill>
                  <a:srgbClr val="ABB6BB"/>
                </a:solidFill>
                <a:latin typeface="Manrope"/>
                <a:ea typeface="Manrope"/>
                <a:cs typeface="Manrope"/>
                <a:sym typeface="Manrope"/>
              </a:rPr>
              <a:t>health over time.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580" y="4685407"/>
            <a:ext cx="32143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94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7B8C94"/>
                </a:solidFill>
                <a:latin typeface="Manrope"/>
                <a:ea typeface="Manrope"/>
                <a:cs typeface="Manrope"/>
                <a:sym typeface="Manrope"/>
              </a:rPr>
              <a:t>LOAN DEFAULT RISK ANALYSIS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225108" y="4685407"/>
            <a:ext cx="313855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94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7B8C94"/>
                </a:solidFill>
                <a:latin typeface="Manrope"/>
                <a:ea typeface="Manrope"/>
                <a:cs typeface="Manrope"/>
                <a:sym typeface="Manrope"/>
              </a:rPr>
              <a:t>EXPECTED BUSINESS IMPACT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01" y="1814140"/>
            <a:ext cx="374808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01" y="2336527"/>
            <a:ext cx="374808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01" y="2858914"/>
            <a:ext cx="374808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01" y="3381301"/>
            <a:ext cx="3748087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811" y="1425773"/>
            <a:ext cx="3748087" cy="411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7327" y="1814140"/>
            <a:ext cx="3367088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7327" y="2336527"/>
            <a:ext cx="3367088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7327" y="2858914"/>
            <a:ext cx="3367088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582742" y="0"/>
            <a:ext cx="2562225" cy="5143500"/>
          </a:xfrm>
          <a:prstGeom prst="rect">
            <a:avLst/>
          </a:prstGeom>
          <a:solidFill>
            <a:srgbClr val="0F2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48580" y="364778"/>
            <a:ext cx="2555513" cy="195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120"/>
              <a:buFont typeface="Manrope"/>
              <a:buNone/>
            </a:pPr>
            <a:r>
              <a:rPr b="1" i="0" lang="en-US" sz="11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07 / LOOKING AHEAD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48580" y="578272"/>
            <a:ext cx="5219782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2880"/>
              <a:buFont typeface="Manrope"/>
              <a:buNone/>
            </a:pPr>
            <a:r>
              <a:rPr b="1" i="0" lang="en-US" sz="288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Limitations &amp; Next Steps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49734" y="1426778"/>
            <a:ext cx="3371850" cy="2305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548580" y="1599456"/>
            <a:ext cx="161231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3D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0F2D3D"/>
                </a:solidFill>
                <a:latin typeface="Manrope"/>
                <a:ea typeface="Manrope"/>
                <a:cs typeface="Manrope"/>
                <a:sym typeface="Manrope"/>
              </a:rPr>
              <a:t>LIMITATIONS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48580" y="1988790"/>
            <a:ext cx="378505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Missing values in some financial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48580" y="2224683"/>
            <a:ext cx="77049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fields.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48580" y="2614836"/>
            <a:ext cx="395889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Historical data may not represent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580" y="2850728"/>
            <a:ext cx="21579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future conditions.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48580" y="3240881"/>
            <a:ext cx="3347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Dataset cannot prove direct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48580" y="3476774"/>
            <a:ext cx="12971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13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16313F"/>
                </a:solidFill>
                <a:latin typeface="Manrope"/>
                <a:ea typeface="Manrope"/>
                <a:cs typeface="Manrope"/>
                <a:sym typeface="Manrope"/>
              </a:rPr>
              <a:t>causation.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471206" y="1426778"/>
            <a:ext cx="4124325" cy="2305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471318" y="1599456"/>
            <a:ext cx="1535891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7A0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1CA7A0"/>
                </a:solidFill>
                <a:latin typeface="Manrope"/>
                <a:ea typeface="Manrope"/>
                <a:cs typeface="Manrope"/>
                <a:sym typeface="Manrope"/>
              </a:rPr>
              <a:t>NEXT STEPS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471318" y="1988790"/>
            <a:ext cx="42572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Build predictive default-risk models.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471318" y="2358405"/>
            <a:ext cx="51755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Include additional borrower behavioral data.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471318" y="2728020"/>
            <a:ext cx="43942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Monitor regional risk trends regularly.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471318" y="3097634"/>
            <a:ext cx="37737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Expand dashboard reporting for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471318" y="3333527"/>
            <a:ext cx="1686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anrope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management.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417216" y="4199334"/>
            <a:ext cx="5286628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220"/>
              <a:buFont typeface="Manrope"/>
              <a:buNone/>
            </a:pPr>
            <a:r>
              <a:rPr b="1" i="0" lang="en-US" sz="122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FROM ANALYSIS TO RISK-INFORMED ACTION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580" y="4685407"/>
            <a:ext cx="32143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LOAN DEFAULT RISK ANALYSIS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348264" y="4685407"/>
            <a:ext cx="297845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717C"/>
              </a:buClr>
              <a:buSzPts val="1080"/>
              <a:buFont typeface="Manrope"/>
              <a:buNone/>
            </a:pPr>
            <a:r>
              <a:rPr b="0" i="0" lang="en-US" sz="1080" u="none" cap="none" strike="noStrike">
                <a:solidFill>
                  <a:srgbClr val="58717C"/>
                </a:solidFill>
                <a:latin typeface="Manrope"/>
                <a:ea typeface="Manrope"/>
                <a:cs typeface="Manrope"/>
                <a:sym typeface="Manrope"/>
              </a:rPr>
              <a:t>LIMITATIONS &amp; NEXT STEPS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734" y="1426778"/>
            <a:ext cx="337185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1206" y="1426778"/>
            <a:ext cx="412432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